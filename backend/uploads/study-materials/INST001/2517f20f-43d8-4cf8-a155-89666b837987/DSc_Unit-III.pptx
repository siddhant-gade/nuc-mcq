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2" r:id="rId4"/>
    <p:sldId id="263" r:id="rId5"/>
    <p:sldId id="284" r:id="rId6"/>
    <p:sldId id="285" r:id="rId7"/>
    <p:sldId id="286" r:id="rId8"/>
    <p:sldId id="287" r:id="rId9"/>
    <p:sldId id="288" r:id="rId10"/>
    <p:sldId id="289" r:id="rId11"/>
    <p:sldId id="290" r:id="rId12"/>
    <p:sldId id="291" r:id="rId13"/>
    <p:sldId id="292" r:id="rId14"/>
    <p:sldId id="293" r:id="rId15"/>
    <p:sldId id="294" r:id="rId16"/>
    <p:sldId id="295" r:id="rId17"/>
    <p:sldId id="296" r:id="rId18"/>
    <p:sldId id="297" r:id="rId19"/>
    <p:sldId id="298" r:id="rId20"/>
    <p:sldId id="261"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AA691BF-516D-4F00-8EB7-C92A80992080}" type="datetimeFigureOut">
              <a:rPr lang="en-US" smtClean="0"/>
              <a:pPr/>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7D0840-D4BA-4D02-8821-ECD6B81BB80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A691BF-516D-4F00-8EB7-C92A80992080}" type="datetimeFigureOut">
              <a:rPr lang="en-US" smtClean="0"/>
              <a:pPr/>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7D0840-D4BA-4D02-8821-ECD6B81BB80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AA691BF-516D-4F00-8EB7-C92A80992080}" type="datetimeFigureOut">
              <a:rPr lang="en-US" smtClean="0"/>
              <a:pPr/>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7D0840-D4BA-4D02-8821-ECD6B81BB80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AA691BF-516D-4F00-8EB7-C92A80992080}" type="datetimeFigureOut">
              <a:rPr lang="en-US" smtClean="0"/>
              <a:pPr/>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7D0840-D4BA-4D02-8821-ECD6B81BB80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AA691BF-516D-4F00-8EB7-C92A80992080}" type="datetimeFigureOut">
              <a:rPr lang="en-US" smtClean="0"/>
              <a:pPr/>
              <a:t>8/21/2026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77D0840-D4BA-4D02-8821-ECD6B81BB80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AA691BF-516D-4F00-8EB7-C92A80992080}" type="datetimeFigureOut">
              <a:rPr lang="en-US" smtClean="0"/>
              <a:pPr/>
              <a:t>8/21/2026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77D0840-D4BA-4D02-8821-ECD6B81BB80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A691BF-516D-4F00-8EB7-C92A80992080}" type="datetimeFigureOut">
              <a:rPr lang="en-US" smtClean="0"/>
              <a:pPr/>
              <a:t>8/21/2026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77D0840-D4BA-4D02-8821-ECD6B81BB80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A691BF-516D-4F00-8EB7-C92A80992080}" type="datetimeFigureOut">
              <a:rPr lang="en-US" smtClean="0"/>
              <a:pPr/>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7D0840-D4BA-4D02-8821-ECD6B81BB80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A691BF-516D-4F00-8EB7-C92A80992080}" type="datetimeFigureOut">
              <a:rPr lang="en-US" smtClean="0"/>
              <a:pPr/>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7D0840-D4BA-4D02-8821-ECD6B81BB80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A691BF-516D-4F00-8EB7-C92A80992080}" type="datetimeFigureOut">
              <a:rPr lang="en-US" smtClean="0"/>
              <a:pPr/>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7D0840-D4BA-4D02-8821-ECD6B81BB80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A691BF-516D-4F00-8EB7-C92A80992080}" type="datetimeFigureOut">
              <a:rPr lang="en-US" smtClean="0"/>
              <a:pPr/>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7D0840-D4BA-4D02-8821-ECD6B81BB80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A691BF-516D-4F00-8EB7-C92A80992080}" type="datetimeFigureOut">
              <a:rPr lang="en-US" smtClean="0"/>
              <a:pPr/>
              <a:t>8/21/2026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7D0840-D4BA-4D02-8821-ECD6B81BB80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health.google.com/covid-19/open-data/explorer"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ibm.com/products/watsonx-data" TargetMode="External"/><Relationship Id="rId2" Type="http://schemas.openxmlformats.org/officeDocument/2006/relationships/hyperlink" Target="https://builtin.com/data-science/types-of-data-analysi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200" dirty="0" smtClean="0">
                <a:latin typeface="Times New Roman" pitchFamily="18" charset="0"/>
                <a:cs typeface="Times New Roman" pitchFamily="18" charset="0"/>
              </a:rPr>
              <a:t>UNIT- III Data Cleaning and Preparation</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r>
              <a:rPr lang="en-IN" sz="2400" dirty="0" smtClean="0">
                <a:latin typeface="Times New Roman" pitchFamily="18" charset="0"/>
                <a:cs typeface="Times New Roman" pitchFamily="18" charset="0"/>
              </a:rPr>
              <a:t>Data </a:t>
            </a:r>
            <a:endParaRPr lang="en-US" sz="24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2985"/>
            <a:ext cx="8229600" cy="4786345"/>
          </a:xfrm>
        </p:spPr>
        <p:txBody>
          <a:bodyPr>
            <a:normAutofit/>
          </a:bodyPr>
          <a:lstStyle/>
          <a:p>
            <a:endParaRPr lang="en-US" sz="2000" b="1"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Types of Data Analysis</a:t>
            </a:r>
          </a:p>
          <a:p>
            <a:r>
              <a:rPr lang="en-US" sz="2000" dirty="0" smtClean="0">
                <a:latin typeface="Times New Roman" pitchFamily="18" charset="0"/>
                <a:cs typeface="Times New Roman" pitchFamily="18" charset="0"/>
              </a:rPr>
              <a:t>Descriptive analysis </a:t>
            </a:r>
          </a:p>
          <a:p>
            <a:r>
              <a:rPr lang="en-US" sz="2000" dirty="0" smtClean="0">
                <a:latin typeface="Times New Roman" pitchFamily="18" charset="0"/>
                <a:cs typeface="Times New Roman" pitchFamily="18" charset="0"/>
              </a:rPr>
              <a:t>Diagnostic analysis </a:t>
            </a:r>
          </a:p>
          <a:p>
            <a:r>
              <a:rPr lang="en-US" sz="2000" dirty="0" smtClean="0">
                <a:latin typeface="Times New Roman" pitchFamily="18" charset="0"/>
                <a:cs typeface="Times New Roman" pitchFamily="18" charset="0"/>
              </a:rPr>
              <a:t>Exploratory analysis </a:t>
            </a:r>
          </a:p>
          <a:p>
            <a:r>
              <a:rPr lang="en-US" sz="2000" dirty="0" smtClean="0">
                <a:latin typeface="Times New Roman" pitchFamily="18" charset="0"/>
                <a:cs typeface="Times New Roman" pitchFamily="18" charset="0"/>
              </a:rPr>
              <a:t>Inferential analysis</a:t>
            </a:r>
          </a:p>
          <a:p>
            <a:r>
              <a:rPr lang="en-US" sz="2000" dirty="0" smtClean="0">
                <a:latin typeface="Times New Roman" pitchFamily="18" charset="0"/>
                <a:cs typeface="Times New Roman" pitchFamily="18" charset="0"/>
              </a:rPr>
              <a:t> Predictive analysis</a:t>
            </a:r>
          </a:p>
          <a:p>
            <a:r>
              <a:rPr lang="en-US" sz="2000" dirty="0" smtClean="0">
                <a:latin typeface="Times New Roman" pitchFamily="18" charset="0"/>
                <a:cs typeface="Times New Roman" pitchFamily="18" charset="0"/>
              </a:rPr>
              <a:t> Causal analysis </a:t>
            </a:r>
          </a:p>
          <a:p>
            <a:r>
              <a:rPr lang="en-US" sz="2000" dirty="0" smtClean="0">
                <a:latin typeface="Times New Roman" pitchFamily="18" charset="0"/>
                <a:cs typeface="Times New Roman" pitchFamily="18" charset="0"/>
              </a:rPr>
              <a:t>Mechanistic analysis </a:t>
            </a:r>
          </a:p>
          <a:p>
            <a:r>
              <a:rPr lang="en-US" sz="2000" dirty="0" smtClean="0">
                <a:latin typeface="Times New Roman" pitchFamily="18" charset="0"/>
                <a:cs typeface="Times New Roman" pitchFamily="18" charset="0"/>
              </a:rPr>
              <a:t>Prescriptive analysis</a:t>
            </a:r>
            <a:endParaRPr lang="en-US" sz="20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r>
              <a:rPr lang="en-US" sz="2000" b="1" dirty="0" smtClean="0">
                <a:latin typeface="Times New Roman" pitchFamily="18" charset="0"/>
                <a:cs typeface="Times New Roman" pitchFamily="18" charset="0"/>
              </a:rPr>
              <a:t>1. Descriptive Analysis</a:t>
            </a:r>
            <a:endParaRPr lang="en-US" sz="20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2985"/>
            <a:ext cx="8229600" cy="4929221"/>
          </a:xfrm>
        </p:spPr>
        <p:txBody>
          <a:bodyPr>
            <a:normAutofit/>
          </a:bodyPr>
          <a:lstStyle/>
          <a:p>
            <a:pPr algn="just"/>
            <a:r>
              <a:rPr lang="en-US" sz="2000" dirty="0" smtClean="0">
                <a:latin typeface="Times New Roman" pitchFamily="18" charset="0"/>
                <a:cs typeface="Times New Roman" pitchFamily="18" charset="0"/>
              </a:rPr>
              <a:t>Descriptive analysis is the very first analysis performed in the data analysis process.</a:t>
            </a:r>
          </a:p>
          <a:p>
            <a:pPr algn="just"/>
            <a:r>
              <a:rPr lang="en-US" sz="2000" dirty="0" smtClean="0">
                <a:latin typeface="Times New Roman" pitchFamily="18" charset="0"/>
                <a:cs typeface="Times New Roman" pitchFamily="18" charset="0"/>
              </a:rPr>
              <a:t> It generates simple summaries of samples and measurements.</a:t>
            </a:r>
          </a:p>
          <a:p>
            <a:pPr algn="just"/>
            <a:r>
              <a:rPr lang="en-US" sz="2000" dirty="0" smtClean="0">
                <a:latin typeface="Times New Roman" pitchFamily="18" charset="0"/>
                <a:cs typeface="Times New Roman" pitchFamily="18" charset="0"/>
              </a:rPr>
              <a:t> It involves common, descriptive statistics like measures of central tendency, variability, frequency and position.</a:t>
            </a:r>
          </a:p>
          <a:p>
            <a:pPr algn="just"/>
            <a:endParaRPr lang="en-IN" sz="200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Descriptive Analysis Example</a:t>
            </a:r>
          </a:p>
          <a:p>
            <a:pPr algn="just"/>
            <a:r>
              <a:rPr lang="en-US" sz="2000" dirty="0" smtClean="0">
                <a:latin typeface="Times New Roman" pitchFamily="18" charset="0"/>
                <a:cs typeface="Times New Roman" pitchFamily="18" charset="0"/>
              </a:rPr>
              <a:t>Take the </a:t>
            </a:r>
            <a:r>
              <a:rPr lang="en-US" sz="2000" dirty="0" smtClean="0">
                <a:latin typeface="Times New Roman" pitchFamily="18" charset="0"/>
                <a:cs typeface="Times New Roman" pitchFamily="18" charset="0"/>
                <a:hlinkClick r:id="rId2"/>
              </a:rPr>
              <a:t>Covid-19 statistics page</a:t>
            </a:r>
            <a:r>
              <a:rPr lang="en-US" sz="2000" dirty="0" smtClean="0">
                <a:latin typeface="Times New Roman" pitchFamily="18" charset="0"/>
                <a:cs typeface="Times New Roman" pitchFamily="18" charset="0"/>
              </a:rPr>
              <a:t> on Google, for example. The line graph is a pure summary of the cases/deaths, a presentation and description of the population of a particular country infected by the virus.</a:t>
            </a:r>
          </a:p>
          <a:p>
            <a:pPr algn="just"/>
            <a:endParaRPr lang="en-US" sz="2000" dirty="0" smtClean="0">
              <a:latin typeface="Times New Roman" pitchFamily="18" charset="0"/>
              <a:cs typeface="Times New Roman" pitchFamily="18" charset="0"/>
            </a:endParaRPr>
          </a:p>
          <a:p>
            <a:pPr algn="just"/>
            <a:endParaRPr lang="en-US" sz="2000" dirty="0" smtClean="0">
              <a:solidFill>
                <a:srgbClr val="C0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style>
          <a:lnRef idx="2">
            <a:schemeClr val="accent2">
              <a:shade val="50000"/>
            </a:schemeClr>
          </a:lnRef>
          <a:fillRef idx="1">
            <a:schemeClr val="accent2"/>
          </a:fillRef>
          <a:effectRef idx="0">
            <a:schemeClr val="accent2"/>
          </a:effectRef>
          <a:fontRef idx="minor">
            <a:schemeClr val="lt1"/>
          </a:fontRef>
        </p:style>
        <p:txBody>
          <a:bodyPr>
            <a:noAutofit/>
          </a:bodyPr>
          <a:lstStyle/>
          <a:p>
            <a:r>
              <a:rPr lang="en-US" sz="2000" b="1" dirty="0" smtClean="0">
                <a:latin typeface="Times New Roman" pitchFamily="18" charset="0"/>
                <a:cs typeface="Times New Roman" pitchFamily="18" charset="0"/>
              </a:rPr>
              <a:t>2. Diagnostic Analysis </a:t>
            </a:r>
            <a:endParaRPr lang="en-US" sz="20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2985"/>
            <a:ext cx="8229600" cy="4929221"/>
          </a:xfrm>
        </p:spPr>
        <p:txBody>
          <a:bodyPr>
            <a:normAutofit/>
          </a:bodyPr>
          <a:lstStyle/>
          <a:p>
            <a:pPr algn="just"/>
            <a:endParaRPr lang="en-US" sz="2000" b="1"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Diagnostic analytics is a type of data analytics that identifies the root causes behind trends or anomalies in historical data, using techniques like data drilling, correlation, clustering and anomaly detection.</a:t>
            </a:r>
          </a:p>
          <a:p>
            <a:pPr algn="just"/>
            <a:r>
              <a:rPr lang="en-US" sz="2000" dirty="0" smtClean="0">
                <a:latin typeface="Times New Roman" pitchFamily="18" charset="0"/>
                <a:cs typeface="Times New Roman" pitchFamily="18" charset="0"/>
              </a:rPr>
              <a:t> It helps organizations understand “why” something happened to improve future decisions. </a:t>
            </a:r>
          </a:p>
          <a:p>
            <a:pPr algn="just"/>
            <a:r>
              <a:rPr lang="en-US" sz="2000" b="1" dirty="0" smtClean="0">
                <a:latin typeface="Times New Roman" pitchFamily="18" charset="0"/>
                <a:cs typeface="Times New Roman" pitchFamily="18" charset="0"/>
              </a:rPr>
              <a:t>Examples of Diagnostic Analytics</a:t>
            </a:r>
          </a:p>
          <a:p>
            <a:pPr algn="just"/>
            <a:r>
              <a:rPr lang="en-US" sz="2000" b="1" dirty="0" smtClean="0">
                <a:latin typeface="Times New Roman" pitchFamily="18" charset="0"/>
                <a:cs typeface="Times New Roman" pitchFamily="18" charset="0"/>
              </a:rPr>
              <a:t>Process Improvement and Automation</a:t>
            </a:r>
          </a:p>
          <a:p>
            <a:pPr algn="just"/>
            <a:r>
              <a:rPr lang="en-US" sz="2000" b="1" dirty="0" smtClean="0">
                <a:latin typeface="Times New Roman" pitchFamily="18" charset="0"/>
                <a:cs typeface="Times New Roman" pitchFamily="18" charset="0"/>
              </a:rPr>
              <a:t>Marketing Analytics</a:t>
            </a:r>
          </a:p>
          <a:p>
            <a:pPr algn="just"/>
            <a:r>
              <a:rPr lang="en-IN" sz="2000" b="1" dirty="0" smtClean="0">
                <a:latin typeface="Times New Roman" pitchFamily="18" charset="0"/>
                <a:cs typeface="Times New Roman" pitchFamily="18" charset="0"/>
              </a:rPr>
              <a:t>I</a:t>
            </a:r>
            <a:r>
              <a:rPr lang="en-US" sz="2000" b="1" dirty="0" smtClean="0">
                <a:latin typeface="Times New Roman" pitchFamily="18" charset="0"/>
                <a:cs typeface="Times New Roman" pitchFamily="18" charset="0"/>
              </a:rPr>
              <a:t>industrial Equipment Management</a:t>
            </a:r>
          </a:p>
          <a:p>
            <a:pPr algn="just"/>
            <a:r>
              <a:rPr lang="en-US" sz="2000" dirty="0" smtClean="0">
                <a:latin typeface="Times New Roman" pitchFamily="18" charset="0"/>
                <a:cs typeface="Times New Roman" pitchFamily="18" charset="0"/>
              </a:rPr>
              <a:t>A footwear store wants to review its website traffic levels over the previous 12 months. Upon compiling and assessing the data, the company’s marketing team finds that June experienced above-average levels of traffic while July and August witnessed slightly lower levels of traffic. </a:t>
            </a:r>
            <a:endParaRPr lang="en-US" sz="2000" b="1" dirty="0" smtClean="0">
              <a:latin typeface="Times New Roman" pitchFamily="18" charset="0"/>
              <a:cs typeface="Times New Roman" pitchFamily="18" charset="0"/>
            </a:endParaRPr>
          </a:p>
          <a:p>
            <a:pPr algn="just"/>
            <a:endParaRPr lang="en-US" sz="2000" dirty="0" smtClean="0">
              <a:solidFill>
                <a:srgbClr val="C0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style>
          <a:lnRef idx="2">
            <a:schemeClr val="accent2">
              <a:shade val="50000"/>
            </a:schemeClr>
          </a:lnRef>
          <a:fillRef idx="1">
            <a:schemeClr val="accent2"/>
          </a:fillRef>
          <a:effectRef idx="0">
            <a:schemeClr val="accent2"/>
          </a:effectRef>
          <a:fontRef idx="minor">
            <a:schemeClr val="lt1"/>
          </a:fontRef>
        </p:style>
        <p:txBody>
          <a:bodyPr>
            <a:noAutofit/>
          </a:bodyPr>
          <a:lstStyle/>
          <a:p>
            <a:r>
              <a:rPr lang="en-US" sz="2000" b="1" dirty="0" smtClean="0">
                <a:latin typeface="Times New Roman" pitchFamily="18" charset="0"/>
                <a:cs typeface="Times New Roman" pitchFamily="18" charset="0"/>
              </a:rPr>
              <a:t>3. Exploratory Analysis (EDA)</a:t>
            </a:r>
            <a:endParaRPr lang="en-US" sz="20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2985"/>
            <a:ext cx="8229600" cy="4929221"/>
          </a:xfrm>
        </p:spPr>
        <p:txBody>
          <a:bodyPr>
            <a:normAutofit/>
          </a:bodyPr>
          <a:lstStyle/>
          <a:p>
            <a:pPr algn="just"/>
            <a:r>
              <a:rPr lang="en-US" sz="2000" dirty="0" smtClean="0">
                <a:latin typeface="Times New Roman" pitchFamily="18" charset="0"/>
                <a:cs typeface="Times New Roman" pitchFamily="18" charset="0"/>
              </a:rPr>
              <a:t>Exploratory analysis involves examining or exploring data and finding relationships between variables that were previously unknown. Here’s what you need to know:</a:t>
            </a:r>
          </a:p>
          <a:p>
            <a:pPr algn="just"/>
            <a:r>
              <a:rPr lang="en-US" sz="2000" dirty="0" smtClean="0">
                <a:latin typeface="Times New Roman" pitchFamily="18" charset="0"/>
                <a:cs typeface="Times New Roman" pitchFamily="18" charset="0"/>
              </a:rPr>
              <a:t>EDA helps you discover relationships between measures in your data, which are not evidence for the existence of the correlation, as denoted by the phrase, “Correlation doesn’t imply causation.”</a:t>
            </a:r>
          </a:p>
          <a:p>
            <a:pPr algn="just"/>
            <a:r>
              <a:rPr lang="en-US" sz="2000" dirty="0" smtClean="0">
                <a:latin typeface="Times New Roman" pitchFamily="18" charset="0"/>
                <a:cs typeface="Times New Roman" pitchFamily="18" charset="0"/>
              </a:rPr>
              <a:t> It’s useful for discovering new connections and forming hypotheses. It drives design planning and data collection.</a:t>
            </a:r>
          </a:p>
          <a:p>
            <a:pPr algn="just">
              <a:buNone/>
            </a:pPr>
            <a:endParaRPr lang="en-US" sz="2000" b="1"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style>
          <a:lnRef idx="2">
            <a:schemeClr val="accent2">
              <a:shade val="50000"/>
            </a:schemeClr>
          </a:lnRef>
          <a:fillRef idx="1">
            <a:schemeClr val="accent2"/>
          </a:fillRef>
          <a:effectRef idx="0">
            <a:schemeClr val="accent2"/>
          </a:effectRef>
          <a:fontRef idx="minor">
            <a:schemeClr val="lt1"/>
          </a:fontRef>
        </p:style>
        <p:txBody>
          <a:bodyPr>
            <a:noAutofit/>
          </a:bodyPr>
          <a:lstStyle/>
          <a:p>
            <a:r>
              <a:rPr lang="en-US" sz="2000" b="1" dirty="0" smtClean="0">
                <a:latin typeface="Times New Roman" pitchFamily="18" charset="0"/>
                <a:cs typeface="Times New Roman" pitchFamily="18" charset="0"/>
              </a:rPr>
              <a:t>3. Exploratory Analysis (EDA)</a:t>
            </a:r>
            <a:endParaRPr lang="en-US" sz="20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2985"/>
            <a:ext cx="8229600" cy="4929221"/>
          </a:xfrm>
        </p:spPr>
        <p:txBody>
          <a:bodyPr>
            <a:normAutofit/>
          </a:bodyPr>
          <a:lstStyle/>
          <a:p>
            <a:pPr algn="just"/>
            <a:r>
              <a:rPr lang="en-US" sz="2000" b="1" dirty="0" smtClean="0">
                <a:latin typeface="Times New Roman" pitchFamily="18" charset="0"/>
                <a:cs typeface="Times New Roman" pitchFamily="18" charset="0"/>
              </a:rPr>
              <a:t>Exploratory Analysis Example</a:t>
            </a:r>
          </a:p>
          <a:p>
            <a:pPr algn="just"/>
            <a:r>
              <a:rPr lang="en-US" sz="2000" dirty="0" smtClean="0">
                <a:latin typeface="Times New Roman" pitchFamily="18" charset="0"/>
                <a:cs typeface="Times New Roman" pitchFamily="18" charset="0"/>
              </a:rPr>
              <a:t>Climate </a:t>
            </a:r>
            <a:r>
              <a:rPr lang="en-US" sz="2000" dirty="0" err="1" smtClean="0">
                <a:latin typeface="Times New Roman" pitchFamily="18" charset="0"/>
                <a:cs typeface="Times New Roman" pitchFamily="18" charset="0"/>
              </a:rPr>
              <a:t>Changeis</a:t>
            </a:r>
            <a:r>
              <a:rPr lang="en-US" sz="2000" dirty="0" smtClean="0">
                <a:latin typeface="Times New Roman" pitchFamily="18" charset="0"/>
                <a:cs typeface="Times New Roman" pitchFamily="18" charset="0"/>
              </a:rPr>
              <a:t> an increasingly important topic as the global temperature has gradually risen over the years. </a:t>
            </a:r>
          </a:p>
          <a:p>
            <a:pPr algn="just"/>
            <a:r>
              <a:rPr lang="en-US" sz="2000" dirty="0" smtClean="0">
                <a:latin typeface="Times New Roman" pitchFamily="18" charset="0"/>
                <a:cs typeface="Times New Roman" pitchFamily="18" charset="0"/>
              </a:rPr>
              <a:t>One example of an exploratory data analysis on climate change involves taking the rise in temperature over the years from 1950 to 2020 and the increase of human activities and industrialization to find relationships from the data. </a:t>
            </a:r>
          </a:p>
          <a:p>
            <a:pPr algn="just"/>
            <a:r>
              <a:rPr lang="en-US" sz="2000" dirty="0" smtClean="0">
                <a:latin typeface="Times New Roman" pitchFamily="18" charset="0"/>
                <a:cs typeface="Times New Roman" pitchFamily="18" charset="0"/>
              </a:rPr>
              <a:t>For example, you may increase the number of factories, cars on the road and airplane flights to see how that correlates with the rise in temperature.</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Exploratory analysis explores data to find relationships between measures without identifying the cause. It’s most useful when formulating hypotheses</a:t>
            </a:r>
            <a:endParaRPr lang="en-US" sz="2000" b="1"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style>
          <a:lnRef idx="2">
            <a:schemeClr val="accent2">
              <a:shade val="50000"/>
            </a:schemeClr>
          </a:lnRef>
          <a:fillRef idx="1">
            <a:schemeClr val="accent2"/>
          </a:fillRef>
          <a:effectRef idx="0">
            <a:schemeClr val="accent2"/>
          </a:effectRef>
          <a:fontRef idx="minor">
            <a:schemeClr val="lt1"/>
          </a:fontRef>
        </p:style>
        <p:txBody>
          <a:bodyPr>
            <a:noAutofit/>
          </a:bodyPr>
          <a:lstStyle/>
          <a:p>
            <a:r>
              <a:rPr lang="en-US" sz="2000" b="1" dirty="0" smtClean="0">
                <a:latin typeface="Times New Roman" pitchFamily="18" charset="0"/>
                <a:cs typeface="Times New Roman" pitchFamily="18" charset="0"/>
              </a:rPr>
              <a:t>4. Inferential Analysis</a:t>
            </a:r>
            <a:endParaRPr lang="en-US" sz="20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2985"/>
            <a:ext cx="8229600" cy="4929221"/>
          </a:xfrm>
        </p:spPr>
        <p:txBody>
          <a:bodyPr>
            <a:normAutofit/>
          </a:bodyPr>
          <a:lstStyle/>
          <a:p>
            <a:pPr algn="just"/>
            <a:r>
              <a:rPr lang="en-US" sz="2000" dirty="0" smtClean="0">
                <a:latin typeface="Times New Roman" pitchFamily="18" charset="0"/>
                <a:cs typeface="Times New Roman" pitchFamily="18" charset="0"/>
              </a:rPr>
              <a:t>Involves using a small sample of data to infer information about a larger population of data.</a:t>
            </a:r>
          </a:p>
          <a:p>
            <a:pPr algn="just"/>
            <a:r>
              <a:rPr lang="en-US" sz="2000" dirty="0" smtClean="0">
                <a:latin typeface="Times New Roman" pitchFamily="18" charset="0"/>
                <a:cs typeface="Times New Roman" pitchFamily="18" charset="0"/>
              </a:rPr>
              <a:t>The goal of statistical modeling itself is all about using a small amount of information to extrapolate and generalize information to a larger group.</a:t>
            </a:r>
          </a:p>
          <a:p>
            <a:pPr algn="just"/>
            <a:r>
              <a:rPr lang="en-US" sz="2000" dirty="0" smtClean="0">
                <a:latin typeface="Times New Roman" pitchFamily="18" charset="0"/>
                <a:cs typeface="Times New Roman" pitchFamily="18" charset="0"/>
              </a:rPr>
              <a:t>Inferential analysis involves using estimated data that is representative of a population and gives a measure of uncertainty or standard deviation to your estimation. </a:t>
            </a:r>
          </a:p>
          <a:p>
            <a:pPr algn="just"/>
            <a:r>
              <a:rPr lang="en-US" sz="2000" dirty="0" smtClean="0">
                <a:latin typeface="Times New Roman" pitchFamily="18" charset="0"/>
                <a:cs typeface="Times New Roman" pitchFamily="18" charset="0"/>
              </a:rPr>
              <a:t>The accuracy of inference depends heavily on your sampling scheme. If the sample isn’t representative of the population, the generalization will be inaccurate. This is known as the central limit theorem.</a:t>
            </a:r>
          </a:p>
          <a:p>
            <a:pPr algn="just"/>
            <a:endParaRPr lang="en-US" sz="2000" dirty="0" smtClean="0">
              <a:latin typeface="Times New Roman" pitchFamily="18" charset="0"/>
              <a:cs typeface="Times New Roman" pitchFamily="18" charset="0"/>
            </a:endParaRPr>
          </a:p>
          <a:p>
            <a:pPr algn="just"/>
            <a:endParaRPr lang="en-US" sz="2000" b="1"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style>
          <a:lnRef idx="2">
            <a:schemeClr val="accent2">
              <a:shade val="50000"/>
            </a:schemeClr>
          </a:lnRef>
          <a:fillRef idx="1">
            <a:schemeClr val="accent2"/>
          </a:fillRef>
          <a:effectRef idx="0">
            <a:schemeClr val="accent2"/>
          </a:effectRef>
          <a:fontRef idx="minor">
            <a:schemeClr val="lt1"/>
          </a:fontRef>
        </p:style>
        <p:txBody>
          <a:bodyPr>
            <a:noAutofit/>
          </a:bodyPr>
          <a:lstStyle/>
          <a:p>
            <a:r>
              <a:rPr lang="en-US" sz="2000" b="1" dirty="0" smtClean="0">
                <a:latin typeface="Times New Roman" pitchFamily="18" charset="0"/>
                <a:cs typeface="Times New Roman" pitchFamily="18" charset="0"/>
              </a:rPr>
              <a:t>4. Inferential Analysis</a:t>
            </a:r>
            <a:endParaRPr lang="en-US" sz="20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2985"/>
            <a:ext cx="8229600" cy="4929221"/>
          </a:xfrm>
        </p:spPr>
        <p:txBody>
          <a:bodyPr>
            <a:normAutofit/>
          </a:bodyPr>
          <a:lstStyle/>
          <a:p>
            <a:pPr algn="just"/>
            <a:r>
              <a:rPr lang="en-US" sz="2000" b="1" dirty="0" smtClean="0">
                <a:latin typeface="Times New Roman" pitchFamily="18" charset="0"/>
                <a:cs typeface="Times New Roman" pitchFamily="18" charset="0"/>
              </a:rPr>
              <a:t>Inferential Analysis Example</a:t>
            </a:r>
          </a:p>
          <a:p>
            <a:pPr algn="just"/>
            <a:r>
              <a:rPr lang="en-US" sz="2000" dirty="0" smtClean="0">
                <a:latin typeface="Times New Roman" pitchFamily="18" charset="0"/>
                <a:cs typeface="Times New Roman" pitchFamily="18" charset="0"/>
              </a:rPr>
              <a:t>A psychological study on the benefits of sleep might have a total of 500 people involved. </a:t>
            </a:r>
          </a:p>
          <a:p>
            <a:pPr algn="just"/>
            <a:r>
              <a:rPr lang="en-US" sz="2000" dirty="0" smtClean="0">
                <a:latin typeface="Times New Roman" pitchFamily="18" charset="0"/>
                <a:cs typeface="Times New Roman" pitchFamily="18" charset="0"/>
              </a:rPr>
              <a:t>When they followed up with the candidates, the candidates reported to have better overall attention spans and well-being with seven to nine hours of sleep, while those with less sleep and more sleep than the given range suffered from reduced attention spans and energy. </a:t>
            </a:r>
          </a:p>
          <a:p>
            <a:pPr algn="just"/>
            <a:r>
              <a:rPr lang="en-US" sz="2000" dirty="0" smtClean="0">
                <a:latin typeface="Times New Roman" pitchFamily="18" charset="0"/>
                <a:cs typeface="Times New Roman" pitchFamily="18" charset="0"/>
              </a:rPr>
              <a:t>This study drawn from 500 people was just a tiny portion of the 7 billion people in the world, and is thus an inference of the larger population.</a:t>
            </a:r>
          </a:p>
          <a:p>
            <a:pPr algn="just"/>
            <a:endParaRPr lang="en-US" sz="2000" dirty="0" smtClean="0">
              <a:latin typeface="Times New Roman" pitchFamily="18" charset="0"/>
              <a:cs typeface="Times New Roman" pitchFamily="18" charset="0"/>
            </a:endParaRPr>
          </a:p>
          <a:p>
            <a:pPr algn="just"/>
            <a:endParaRPr lang="en-US" sz="2000" b="1"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style>
          <a:lnRef idx="2">
            <a:schemeClr val="accent2">
              <a:shade val="50000"/>
            </a:schemeClr>
          </a:lnRef>
          <a:fillRef idx="1">
            <a:schemeClr val="accent2"/>
          </a:fillRef>
          <a:effectRef idx="0">
            <a:schemeClr val="accent2"/>
          </a:effectRef>
          <a:fontRef idx="minor">
            <a:schemeClr val="lt1"/>
          </a:fontRef>
        </p:style>
        <p:txBody>
          <a:bodyPr>
            <a:noAutofit/>
          </a:bodyPr>
          <a:lstStyle/>
          <a:p>
            <a:r>
              <a:rPr lang="en-US" sz="2000" b="1" dirty="0" smtClean="0">
                <a:latin typeface="Times New Roman" pitchFamily="18" charset="0"/>
                <a:cs typeface="Times New Roman" pitchFamily="18" charset="0"/>
              </a:rPr>
              <a:t>5. Predictive Analysis</a:t>
            </a:r>
            <a:endParaRPr lang="en-US" sz="20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2985"/>
            <a:ext cx="8229600" cy="4929221"/>
          </a:xfrm>
        </p:spPr>
        <p:txBody>
          <a:bodyPr>
            <a:normAutofit/>
          </a:bodyPr>
          <a:lstStyle/>
          <a:p>
            <a:pPr algn="just"/>
            <a:r>
              <a:rPr lang="en-US" sz="2000" dirty="0" smtClean="0">
                <a:latin typeface="Times New Roman" pitchFamily="18" charset="0"/>
                <a:cs typeface="Times New Roman" pitchFamily="18" charset="0"/>
              </a:rPr>
              <a:t>Involves</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using historical or current data to find patterns and make predictions about the future. </a:t>
            </a:r>
          </a:p>
          <a:p>
            <a:pPr algn="just"/>
            <a:r>
              <a:rPr lang="en-US" sz="2000" dirty="0" smtClean="0">
                <a:latin typeface="Times New Roman" pitchFamily="18" charset="0"/>
                <a:cs typeface="Times New Roman" pitchFamily="18" charset="0"/>
              </a:rPr>
              <a:t>Here’s what you need to know:</a:t>
            </a:r>
          </a:p>
          <a:p>
            <a:pPr algn="just"/>
            <a:r>
              <a:rPr lang="en-US" sz="2000" dirty="0" smtClean="0">
                <a:latin typeface="Times New Roman" pitchFamily="18" charset="0"/>
                <a:cs typeface="Times New Roman" pitchFamily="18" charset="0"/>
              </a:rPr>
              <a:t>The accuracy of the predictions depends on the input variables.</a:t>
            </a:r>
          </a:p>
          <a:p>
            <a:pPr algn="just"/>
            <a:r>
              <a:rPr lang="en-US" sz="2000" dirty="0" smtClean="0">
                <a:latin typeface="Times New Roman" pitchFamily="18" charset="0"/>
                <a:cs typeface="Times New Roman" pitchFamily="18" charset="0"/>
              </a:rPr>
              <a:t>Accuracy also depends on the types of models. A linear model might work well in some cases, and in other cases it might not.</a:t>
            </a:r>
          </a:p>
          <a:p>
            <a:pPr algn="just"/>
            <a:r>
              <a:rPr lang="en-US" sz="2000" dirty="0" smtClean="0">
                <a:latin typeface="Times New Roman" pitchFamily="18" charset="0"/>
                <a:cs typeface="Times New Roman" pitchFamily="18" charset="0"/>
              </a:rPr>
              <a:t>Using a variable to predict another one doesn’t denote a causal relationship.</a:t>
            </a:r>
          </a:p>
          <a:p>
            <a:pPr algn="just"/>
            <a:endParaRPr lang="en-US" sz="2000" dirty="0" smtClean="0">
              <a:latin typeface="Times New Roman" pitchFamily="18" charset="0"/>
              <a:cs typeface="Times New Roman" pitchFamily="18" charset="0"/>
            </a:endParaRPr>
          </a:p>
          <a:p>
            <a:pPr algn="just"/>
            <a:endParaRPr lang="en-US" sz="2000" b="1"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style>
          <a:lnRef idx="2">
            <a:schemeClr val="accent2">
              <a:shade val="50000"/>
            </a:schemeClr>
          </a:lnRef>
          <a:fillRef idx="1">
            <a:schemeClr val="accent2"/>
          </a:fillRef>
          <a:effectRef idx="0">
            <a:schemeClr val="accent2"/>
          </a:effectRef>
          <a:fontRef idx="minor">
            <a:schemeClr val="lt1"/>
          </a:fontRef>
        </p:style>
        <p:txBody>
          <a:bodyPr>
            <a:noAutofit/>
          </a:bodyPr>
          <a:lstStyle/>
          <a:p>
            <a:r>
              <a:rPr lang="en-US" sz="2000" b="1" dirty="0" smtClean="0">
                <a:latin typeface="Times New Roman" pitchFamily="18" charset="0"/>
                <a:cs typeface="Times New Roman" pitchFamily="18" charset="0"/>
              </a:rPr>
              <a:t>5. Predictive Analysis</a:t>
            </a:r>
            <a:endParaRPr lang="en-US" sz="20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2985"/>
            <a:ext cx="8229600" cy="4929221"/>
          </a:xfrm>
        </p:spPr>
        <p:txBody>
          <a:bodyPr>
            <a:normAutofit/>
          </a:bodyPr>
          <a:lstStyle/>
          <a:p>
            <a:pPr algn="just"/>
            <a:r>
              <a:rPr lang="en-US" sz="2000" b="1" dirty="0" smtClean="0">
                <a:latin typeface="Times New Roman" pitchFamily="18" charset="0"/>
                <a:cs typeface="Times New Roman" pitchFamily="18" charset="0"/>
              </a:rPr>
              <a:t>Predictive Analysis Example</a:t>
            </a:r>
          </a:p>
          <a:p>
            <a:pPr algn="just"/>
            <a:r>
              <a:rPr lang="en-US" sz="2000" dirty="0" smtClean="0">
                <a:latin typeface="Times New Roman" pitchFamily="18" charset="0"/>
                <a:cs typeface="Times New Roman" pitchFamily="18" charset="0"/>
              </a:rPr>
              <a:t>The 2020 United States election is a popular topic and many prediction models are built to predict the winning candidate. </a:t>
            </a:r>
          </a:p>
          <a:p>
            <a:pPr algn="just"/>
            <a:r>
              <a:rPr lang="en-US" sz="2000" dirty="0" err="1" smtClean="0">
                <a:latin typeface="Times New Roman" pitchFamily="18" charset="0"/>
                <a:cs typeface="Times New Roman" pitchFamily="18" charset="0"/>
              </a:rPr>
              <a:t>FiveThirtyEight</a:t>
            </a:r>
            <a:r>
              <a:rPr lang="en-US" sz="2000" dirty="0" smtClean="0">
                <a:latin typeface="Times New Roman" pitchFamily="18" charset="0"/>
                <a:cs typeface="Times New Roman" pitchFamily="18" charset="0"/>
              </a:rPr>
              <a:t> did this to forecast the 2016 and 2020 elections. Prediction analysis for an election would require input variables such as historical polling data, trends and current polling data in order to return a good prediction. </a:t>
            </a:r>
          </a:p>
          <a:p>
            <a:pPr algn="just"/>
            <a:r>
              <a:rPr lang="en-US" sz="2000" dirty="0" smtClean="0">
                <a:latin typeface="Times New Roman" pitchFamily="18" charset="0"/>
                <a:cs typeface="Times New Roman" pitchFamily="18" charset="0"/>
              </a:rPr>
              <a:t>Something as large as an election wouldn’t just be using a linear model, but a complex model with certain tunings to best serve its purpose.</a:t>
            </a: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style>
          <a:lnRef idx="2">
            <a:schemeClr val="accent2">
              <a:shade val="50000"/>
            </a:schemeClr>
          </a:lnRef>
          <a:fillRef idx="1">
            <a:schemeClr val="accent2"/>
          </a:fillRef>
          <a:effectRef idx="0">
            <a:schemeClr val="accent2"/>
          </a:effectRef>
          <a:fontRef idx="minor">
            <a:schemeClr val="lt1"/>
          </a:fontRef>
        </p:style>
        <p:txBody>
          <a:bodyPr>
            <a:noAutofit/>
          </a:bodyPr>
          <a:lstStyle/>
          <a:p>
            <a:r>
              <a:rPr lang="en-US" sz="2000" b="1" dirty="0" smtClean="0">
                <a:latin typeface="Times New Roman" pitchFamily="18" charset="0"/>
                <a:cs typeface="Times New Roman" pitchFamily="18" charset="0"/>
              </a:rPr>
              <a:t>6. Causal Analysis</a:t>
            </a:r>
            <a:endParaRPr lang="en-US" sz="20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2985"/>
            <a:ext cx="8229600" cy="4929221"/>
          </a:xfrm>
        </p:spPr>
        <p:txBody>
          <a:bodyPr>
            <a:normAutofit/>
          </a:bodyPr>
          <a:lstStyle/>
          <a:p>
            <a:pPr algn="just"/>
            <a:r>
              <a:rPr lang="en-US" sz="2000" dirty="0" smtClean="0">
                <a:latin typeface="Times New Roman" pitchFamily="18" charset="0"/>
                <a:cs typeface="Times New Roman" pitchFamily="18" charset="0"/>
              </a:rPr>
              <a:t>looks at the cause and effect of relationships between variables and is focused on finding the cause of a correlation. This way, researchers can examine how a change in ne variable affects another.</a:t>
            </a:r>
          </a:p>
          <a:p>
            <a:pPr algn="just"/>
            <a:r>
              <a:rPr lang="en-US" sz="2000" dirty="0" smtClean="0">
                <a:latin typeface="Times New Roman" pitchFamily="18" charset="0"/>
                <a:cs typeface="Times New Roman" pitchFamily="18" charset="0"/>
              </a:rPr>
              <a:t>you want to test out whether a new drug improves human strength and focus.</a:t>
            </a:r>
          </a:p>
          <a:p>
            <a:pPr algn="just"/>
            <a:r>
              <a:rPr lang="en-US" sz="2000" dirty="0" smtClean="0">
                <a:latin typeface="Times New Roman" pitchFamily="18" charset="0"/>
                <a:cs typeface="Times New Roman" pitchFamily="18" charset="0"/>
              </a:rPr>
              <a:t> To do that, you perform randomized control trials for the drug to test its effect. </a:t>
            </a:r>
          </a:p>
          <a:p>
            <a:pPr algn="just"/>
            <a:r>
              <a:rPr lang="en-US" sz="2000" dirty="0" smtClean="0">
                <a:latin typeface="Times New Roman" pitchFamily="18" charset="0"/>
                <a:cs typeface="Times New Roman" pitchFamily="18" charset="0"/>
              </a:rPr>
              <a:t>You compare the sample of candidates for your new drug against the candidates receiving a mock control drug through a few tests focused on strength and overall focus and attention. </a:t>
            </a:r>
          </a:p>
          <a:p>
            <a:pPr algn="just"/>
            <a:r>
              <a:rPr lang="en-US" sz="2000" dirty="0" smtClean="0">
                <a:latin typeface="Times New Roman" pitchFamily="18" charset="0"/>
                <a:cs typeface="Times New Roman" pitchFamily="18" charset="0"/>
              </a:rPr>
              <a:t>This will allow you to observe how the drug affects the outcome. </a:t>
            </a: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style>
          <a:lnRef idx="2">
            <a:schemeClr val="accent2">
              <a:shade val="50000"/>
            </a:schemeClr>
          </a:lnRef>
          <a:fillRef idx="1">
            <a:schemeClr val="accent2"/>
          </a:fillRef>
          <a:effectRef idx="0">
            <a:schemeClr val="accent2"/>
          </a:effectRef>
          <a:fontRef idx="minor">
            <a:schemeClr val="lt1"/>
          </a:fontRef>
        </p:style>
        <p:txBody>
          <a:bodyPr>
            <a:noAutofit/>
          </a:bodyPr>
          <a:lstStyle/>
          <a:p>
            <a:r>
              <a:rPr lang="en-US" sz="2000" b="1" dirty="0" smtClean="0">
                <a:latin typeface="Times New Roman" pitchFamily="18" charset="0"/>
                <a:cs typeface="Times New Roman" pitchFamily="18" charset="0"/>
              </a:rPr>
              <a:t>7. Mechanistic Analysis</a:t>
            </a:r>
            <a:endParaRPr lang="en-US" sz="20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2985"/>
            <a:ext cx="8229600" cy="4929221"/>
          </a:xfrm>
        </p:spPr>
        <p:txBody>
          <a:bodyPr>
            <a:normAutofit/>
          </a:bodyPr>
          <a:lstStyle/>
          <a:p>
            <a:pPr algn="just"/>
            <a:r>
              <a:rPr lang="en-US" sz="2000" dirty="0" smtClean="0">
                <a:latin typeface="Times New Roman" pitchFamily="18" charset="0"/>
                <a:cs typeface="Times New Roman" pitchFamily="18" charset="0"/>
              </a:rPr>
              <a:t>is used to</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understand exact changes in variables that lead to other changes in other variables.</a:t>
            </a:r>
          </a:p>
          <a:p>
            <a:pPr algn="just"/>
            <a:r>
              <a:rPr lang="en-US" sz="2000" dirty="0" smtClean="0">
                <a:latin typeface="Times New Roman" pitchFamily="18" charset="0"/>
                <a:cs typeface="Times New Roman" pitchFamily="18" charset="0"/>
              </a:rPr>
              <a:t>It’s applied in physical or engineering sciences, situations that require high precision and little room for error, only noise in data is measurement error.</a:t>
            </a:r>
          </a:p>
          <a:p>
            <a:pPr algn="just"/>
            <a:r>
              <a:rPr lang="en-US" sz="2000" dirty="0" smtClean="0">
                <a:latin typeface="Times New Roman" pitchFamily="18" charset="0"/>
                <a:cs typeface="Times New Roman" pitchFamily="18" charset="0"/>
              </a:rPr>
              <a:t> It’s designed to understand a biological or behavioral process, the </a:t>
            </a:r>
            <a:r>
              <a:rPr lang="en-US" sz="2000" dirty="0" err="1" smtClean="0">
                <a:latin typeface="Times New Roman" pitchFamily="18" charset="0"/>
                <a:cs typeface="Times New Roman" pitchFamily="18" charset="0"/>
              </a:rPr>
              <a:t>pathophysiology</a:t>
            </a:r>
            <a:r>
              <a:rPr lang="en-US" sz="2000" dirty="0" smtClean="0">
                <a:latin typeface="Times New Roman" pitchFamily="18" charset="0"/>
                <a:cs typeface="Times New Roman" pitchFamily="18" charset="0"/>
              </a:rPr>
              <a:t> of a disease or the mechanism of action of an intervention. </a:t>
            </a: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style>
          <a:lnRef idx="2">
            <a:schemeClr val="accent2">
              <a:shade val="50000"/>
            </a:schemeClr>
          </a:lnRef>
          <a:fillRef idx="1">
            <a:schemeClr val="accent2"/>
          </a:fillRef>
          <a:effectRef idx="0">
            <a:schemeClr val="accent2"/>
          </a:effectRef>
          <a:fontRef idx="minor">
            <a:schemeClr val="lt1"/>
          </a:fontRef>
        </p:style>
        <p:txBody>
          <a:bodyPr>
            <a:noAutofit/>
          </a:bodyPr>
          <a:lstStyle/>
          <a:p>
            <a:r>
              <a:rPr lang="en-US" sz="2000" b="1" dirty="0" smtClean="0">
                <a:latin typeface="Times New Roman" pitchFamily="18" charset="0"/>
                <a:cs typeface="Times New Roman" pitchFamily="18" charset="0"/>
              </a:rPr>
              <a:t>8. Prescriptive Analysis </a:t>
            </a:r>
            <a:endParaRPr lang="en-US" sz="20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2985"/>
            <a:ext cx="8229600" cy="4929221"/>
          </a:xfrm>
        </p:spPr>
        <p:txBody>
          <a:bodyPr>
            <a:normAutofit/>
          </a:bodyPr>
          <a:lstStyle/>
          <a:p>
            <a:pPr algn="just"/>
            <a:r>
              <a:rPr lang="en-US" sz="2000" dirty="0" smtClean="0">
                <a:latin typeface="Times New Roman" pitchFamily="18" charset="0"/>
                <a:cs typeface="Times New Roman" pitchFamily="18" charset="0"/>
              </a:rPr>
              <a:t>compiles insights from other previous data analyses and determines actions that teams or companies can take to prepare for predicted trends.</a:t>
            </a:r>
          </a:p>
          <a:p>
            <a:pPr algn="just"/>
            <a:r>
              <a:rPr lang="en-US" sz="2000" dirty="0" smtClean="0">
                <a:latin typeface="Times New Roman" pitchFamily="18" charset="0"/>
                <a:cs typeface="Times New Roman" pitchFamily="18" charset="0"/>
              </a:rPr>
              <a:t>Here’s what you need to know: </a:t>
            </a:r>
          </a:p>
          <a:p>
            <a:pPr algn="just"/>
            <a:r>
              <a:rPr lang="en-US" sz="2000" dirty="0" smtClean="0">
                <a:latin typeface="Times New Roman" pitchFamily="18" charset="0"/>
                <a:cs typeface="Times New Roman" pitchFamily="18" charset="0"/>
              </a:rPr>
              <a:t>Prescriptive analysis may come right after predictive analysis, but it may involve combining many different data analyses. </a:t>
            </a:r>
          </a:p>
          <a:p>
            <a:pPr algn="just"/>
            <a:r>
              <a:rPr lang="en-US" sz="2000" dirty="0" smtClean="0">
                <a:latin typeface="Times New Roman" pitchFamily="18" charset="0"/>
                <a:cs typeface="Times New Roman" pitchFamily="18" charset="0"/>
              </a:rPr>
              <a:t>Companies need advanced technology and plenty of resources to conduct prescriptive analysis.</a:t>
            </a:r>
          </a:p>
          <a:p>
            <a:pPr algn="just"/>
            <a:r>
              <a:rPr lang="en-US" sz="2000" dirty="0" smtClean="0">
                <a:latin typeface="Times New Roman" pitchFamily="18" charset="0"/>
                <a:cs typeface="Times New Roman" pitchFamily="18" charset="0"/>
              </a:rPr>
              <a:t> Artificial intelligence systems that process data and adjust automated tasks are an example of the technology required to perform prescriptive analysis.  </a:t>
            </a:r>
          </a:p>
          <a:p>
            <a:pPr algn="just"/>
            <a:r>
              <a:rPr lang="en-US" sz="2000" dirty="0" smtClean="0">
                <a:latin typeface="Times New Roman" pitchFamily="18" charset="0"/>
                <a:cs typeface="Times New Roman" pitchFamily="18" charset="0"/>
              </a:rPr>
              <a:t>On platforms like </a:t>
            </a:r>
            <a:r>
              <a:rPr lang="en-US" sz="2000" dirty="0" err="1" smtClean="0">
                <a:latin typeface="Times New Roman" pitchFamily="18" charset="0"/>
                <a:cs typeface="Times New Roman" pitchFamily="18" charset="0"/>
              </a:rPr>
              <a:t>TikTok</a:t>
            </a:r>
            <a:r>
              <a:rPr lang="en-US" sz="2000" dirty="0" smtClean="0">
                <a:latin typeface="Times New Roman" pitchFamily="18" charset="0"/>
                <a:cs typeface="Times New Roman" pitchFamily="18" charset="0"/>
              </a:rPr>
              <a:t> and </a:t>
            </a:r>
            <a:r>
              <a:rPr lang="en-US" sz="2000" dirty="0" err="1" smtClean="0">
                <a:latin typeface="Times New Roman" pitchFamily="18" charset="0"/>
                <a:cs typeface="Times New Roman" pitchFamily="18" charset="0"/>
              </a:rPr>
              <a:t>Instagram</a:t>
            </a:r>
            <a:r>
              <a:rPr lang="en-US" sz="2000" dirty="0" smtClean="0">
                <a:latin typeface="Times New Roman" pitchFamily="18" charset="0"/>
                <a:cs typeface="Times New Roman" pitchFamily="18" charset="0"/>
              </a:rPr>
              <a:t>, algorithms can apply prescriptive analysis to review past content a user has engaged with and the kinds of behaviors they exhibited with specific posts.</a:t>
            </a:r>
          </a:p>
          <a:p>
            <a:pPr algn="just"/>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style>
          <a:lnRef idx="2">
            <a:schemeClr val="accent2">
              <a:shade val="50000"/>
            </a:schemeClr>
          </a:lnRef>
          <a:fillRef idx="1">
            <a:schemeClr val="accent2"/>
          </a:fillRef>
          <a:effectRef idx="0">
            <a:schemeClr val="accent2"/>
          </a:effectRef>
          <a:fontRef idx="minor">
            <a:schemeClr val="lt1"/>
          </a:fontRef>
        </p:style>
        <p:txBody>
          <a:bodyPr>
            <a:noAutofit/>
          </a:bodyPr>
          <a:lstStyle/>
          <a:p>
            <a:r>
              <a:rPr lang="en-US" sz="2000" b="1" dirty="0" smtClean="0">
                <a:latin typeface="Times New Roman" pitchFamily="18" charset="0"/>
                <a:cs typeface="Times New Roman" pitchFamily="18" charset="0"/>
              </a:rPr>
              <a:t>What is data cleaning? </a:t>
            </a:r>
            <a:endParaRPr lang="en-US" sz="20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2985"/>
            <a:ext cx="8229600" cy="4929221"/>
          </a:xfrm>
        </p:spPr>
        <p:txBody>
          <a:bodyPr>
            <a:normAutofit lnSpcReduction="10000"/>
          </a:bodyPr>
          <a:lstStyle/>
          <a:p>
            <a:pPr algn="just"/>
            <a:r>
              <a:rPr lang="en-US" sz="2000" dirty="0" smtClean="0">
                <a:latin typeface="Times New Roman" pitchFamily="18" charset="0"/>
                <a:cs typeface="Times New Roman" pitchFamily="18" charset="0"/>
              </a:rPr>
              <a:t>Data cleaning, also called data cleansing or data scrubbing, is the process of identifying and correcting errors and inconsistencies in raw data sets to improve data quality</a:t>
            </a:r>
            <a:r>
              <a:rPr lang="en-US" sz="2000" dirty="0" smtClean="0">
                <a:latin typeface="Times New Roman" pitchFamily="18" charset="0"/>
                <a:cs typeface="Times New Roman" pitchFamily="18" charset="0"/>
              </a:rPr>
              <a:t>.</a:t>
            </a:r>
          </a:p>
          <a:p>
            <a:pPr algn="just"/>
            <a:r>
              <a:rPr lang="en-US" sz="2000" dirty="0" smtClean="0">
                <a:latin typeface="Times New Roman" pitchFamily="18" charset="0"/>
                <a:cs typeface="Times New Roman" pitchFamily="18" charset="0"/>
              </a:rPr>
              <a:t>The goal of data cleaning is to help ensure that data is accurate, complete, consistent and usable for analysis or decision-making</a:t>
            </a:r>
            <a:r>
              <a:rPr lang="en-US" sz="2000" dirty="0" smtClean="0">
                <a:latin typeface="Times New Roman" pitchFamily="18" charset="0"/>
                <a:cs typeface="Times New Roman" pitchFamily="18" charset="0"/>
              </a:rPr>
              <a:t>.</a:t>
            </a:r>
          </a:p>
          <a:p>
            <a:pPr algn="just"/>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Data cleaning processes work to address common data quality issues such as duplicates, missing values, inconsistencies, syntax errors, irrelevant data and structural errors</a:t>
            </a:r>
            <a:r>
              <a:rPr lang="en-US" sz="2000" dirty="0" smtClean="0">
                <a:latin typeface="Times New Roman" pitchFamily="18" charset="0"/>
                <a:cs typeface="Times New Roman" pitchFamily="18" charset="0"/>
              </a:rPr>
              <a:t>.</a:t>
            </a:r>
          </a:p>
          <a:p>
            <a:r>
              <a:rPr lang="en-US" sz="2000" b="1" dirty="0" smtClean="0">
                <a:latin typeface="Times New Roman" pitchFamily="18" charset="0"/>
                <a:cs typeface="Times New Roman" pitchFamily="18" charset="0"/>
              </a:rPr>
              <a:t>The key benefits of data cleaning include:</a:t>
            </a:r>
          </a:p>
          <a:p>
            <a:r>
              <a:rPr lang="en-US" sz="2000" dirty="0" smtClean="0">
                <a:latin typeface="Times New Roman" pitchFamily="18" charset="0"/>
                <a:cs typeface="Times New Roman" pitchFamily="18" charset="0"/>
              </a:rPr>
              <a:t>Informed decision-making</a:t>
            </a:r>
          </a:p>
          <a:p>
            <a:r>
              <a:rPr lang="en-US" sz="2000" dirty="0" smtClean="0">
                <a:latin typeface="Times New Roman" pitchFamily="18" charset="0"/>
                <a:cs typeface="Times New Roman" pitchFamily="18" charset="0"/>
              </a:rPr>
              <a:t>Improved productivity</a:t>
            </a:r>
          </a:p>
          <a:p>
            <a:r>
              <a:rPr lang="en-US" sz="2000" dirty="0" smtClean="0">
                <a:latin typeface="Times New Roman" pitchFamily="18" charset="0"/>
                <a:cs typeface="Times New Roman" pitchFamily="18" charset="0"/>
              </a:rPr>
              <a:t>Cost efficiency</a:t>
            </a:r>
          </a:p>
          <a:p>
            <a:r>
              <a:rPr lang="en-US" sz="2000" dirty="0" smtClean="0">
                <a:latin typeface="Times New Roman" pitchFamily="18" charset="0"/>
                <a:cs typeface="Times New Roman" pitchFamily="18" charset="0"/>
              </a:rPr>
              <a:t>Data compliance and security</a:t>
            </a:r>
          </a:p>
          <a:p>
            <a:r>
              <a:rPr lang="en-US" sz="2000" dirty="0" smtClean="0">
                <a:latin typeface="Times New Roman" pitchFamily="18" charset="0"/>
                <a:cs typeface="Times New Roman" pitchFamily="18" charset="0"/>
              </a:rPr>
              <a:t>Enhanced model performance</a:t>
            </a:r>
          </a:p>
          <a:p>
            <a:r>
              <a:rPr lang="en-US" sz="2000" dirty="0" smtClean="0">
                <a:latin typeface="Times New Roman" pitchFamily="18" charset="0"/>
                <a:cs typeface="Times New Roman" pitchFamily="18" charset="0"/>
              </a:rPr>
              <a:t>Improved data consistency</a:t>
            </a:r>
          </a:p>
          <a:p>
            <a:pPr algn="just"/>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style>
          <a:lnRef idx="2">
            <a:schemeClr val="accent2">
              <a:shade val="50000"/>
            </a:schemeClr>
          </a:lnRef>
          <a:fillRef idx="1">
            <a:schemeClr val="accent2"/>
          </a:fillRef>
          <a:effectRef idx="0">
            <a:schemeClr val="accent2"/>
          </a:effectRef>
          <a:fontRef idx="minor">
            <a:schemeClr val="lt1"/>
          </a:fontRef>
        </p:style>
        <p:txBody>
          <a:bodyPr>
            <a:noAutofit/>
          </a:bodyPr>
          <a:lstStyle/>
          <a:p>
            <a:r>
              <a:rPr lang="en-US" sz="2000" b="1" dirty="0" smtClean="0">
                <a:latin typeface="Times New Roman" pitchFamily="18" charset="0"/>
                <a:cs typeface="Times New Roman" pitchFamily="18" charset="0"/>
              </a:rPr>
              <a:t>Data cleaning techniques </a:t>
            </a:r>
            <a:endParaRPr lang="en-US" sz="20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2985"/>
            <a:ext cx="8229600" cy="4929221"/>
          </a:xfrm>
        </p:spPr>
        <p:txBody>
          <a:bodyPr>
            <a:normAutofit/>
          </a:bodyPr>
          <a:lstStyle/>
          <a:p>
            <a:pPr algn="just"/>
            <a:r>
              <a:rPr lang="en-US" sz="2000" dirty="0" smtClean="0">
                <a:latin typeface="Times New Roman" pitchFamily="18" charset="0"/>
                <a:cs typeface="Times New Roman" pitchFamily="18" charset="0"/>
              </a:rPr>
              <a:t>Standardization</a:t>
            </a:r>
          </a:p>
          <a:p>
            <a:pPr algn="just"/>
            <a:r>
              <a:rPr lang="en-US" sz="2000" dirty="0" smtClean="0">
                <a:latin typeface="Times New Roman" pitchFamily="18" charset="0"/>
                <a:cs typeface="Times New Roman" pitchFamily="18" charset="0"/>
              </a:rPr>
              <a:t>Addressing outliers</a:t>
            </a:r>
          </a:p>
          <a:p>
            <a:pPr algn="just"/>
            <a:r>
              <a:rPr lang="en-US" sz="2000" dirty="0" err="1" smtClean="0">
                <a:latin typeface="Times New Roman" pitchFamily="18" charset="0"/>
                <a:cs typeface="Times New Roman" pitchFamily="18" charset="0"/>
              </a:rPr>
              <a:t>Deduplication</a:t>
            </a: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Addressing </a:t>
            </a:r>
            <a:r>
              <a:rPr lang="en-US" sz="2000" dirty="0" smtClean="0">
                <a:latin typeface="Times New Roman" pitchFamily="18" charset="0"/>
                <a:cs typeface="Times New Roman" pitchFamily="18" charset="0"/>
              </a:rPr>
              <a:t>missing </a:t>
            </a:r>
            <a:r>
              <a:rPr lang="en-US" sz="2000" dirty="0" smtClean="0">
                <a:latin typeface="Times New Roman" pitchFamily="18" charset="0"/>
                <a:cs typeface="Times New Roman" pitchFamily="18" charset="0"/>
              </a:rPr>
              <a:t>values</a:t>
            </a:r>
          </a:p>
          <a:p>
            <a:pPr algn="just"/>
            <a:r>
              <a:rPr lang="en-US" sz="2000" dirty="0" smtClean="0">
                <a:latin typeface="Times New Roman" pitchFamily="18" charset="0"/>
                <a:cs typeface="Times New Roman" pitchFamily="18" charset="0"/>
              </a:rPr>
              <a:t>Validation</a:t>
            </a:r>
          </a:p>
          <a:p>
            <a:pPr algn="just"/>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style>
          <a:lnRef idx="2">
            <a:schemeClr val="accent2">
              <a:shade val="50000"/>
            </a:schemeClr>
          </a:lnRef>
          <a:fillRef idx="1">
            <a:schemeClr val="accent2"/>
          </a:fillRef>
          <a:effectRef idx="0">
            <a:schemeClr val="accent2"/>
          </a:effectRef>
          <a:fontRef idx="minor">
            <a:schemeClr val="lt1"/>
          </a:fontRef>
        </p:style>
        <p:txBody>
          <a:bodyPr>
            <a:noAutofit/>
          </a:bodyPr>
          <a:lstStyle/>
          <a:p>
            <a:r>
              <a:rPr lang="en-US" sz="2000" b="1" dirty="0" smtClean="0">
                <a:latin typeface="Times New Roman" pitchFamily="18" charset="0"/>
                <a:cs typeface="Times New Roman" pitchFamily="18" charset="0"/>
              </a:rPr>
              <a:t>Data cleaning techniques </a:t>
            </a:r>
            <a:endParaRPr lang="en-US" sz="20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2985"/>
            <a:ext cx="8229600" cy="4929221"/>
          </a:xfrm>
        </p:spPr>
        <p:txBody>
          <a:bodyPr>
            <a:normAutofit/>
          </a:bodyPr>
          <a:lstStyle/>
          <a:p>
            <a:pPr algn="just"/>
            <a:r>
              <a:rPr lang="en-US" sz="2000" b="1" dirty="0" smtClean="0">
                <a:latin typeface="Times New Roman" pitchFamily="18" charset="0"/>
                <a:cs typeface="Times New Roman" pitchFamily="18" charset="0"/>
              </a:rPr>
              <a:t>Standardization :</a:t>
            </a:r>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Inconsistencies arise when data is represented in different formats or structures within the same data set. </a:t>
            </a: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For </a:t>
            </a:r>
            <a:r>
              <a:rPr lang="en-US" sz="2000" dirty="0" smtClean="0">
                <a:latin typeface="Times New Roman" pitchFamily="18" charset="0"/>
                <a:cs typeface="Times New Roman" pitchFamily="18" charset="0"/>
              </a:rPr>
              <a:t>example, a common discrepancy is the date format, such as “MM-DD-YYYY” versus “DD-MM-YYYY.” </a:t>
            </a: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Standardizing </a:t>
            </a:r>
            <a:r>
              <a:rPr lang="en-US" sz="2000" dirty="0" smtClean="0">
                <a:latin typeface="Times New Roman" pitchFamily="18" charset="0"/>
                <a:cs typeface="Times New Roman" pitchFamily="18" charset="0"/>
              </a:rPr>
              <a:t>formats and structures can help ensure uniformity and compatibility for accurate analysis</a:t>
            </a:r>
            <a:r>
              <a:rPr lang="en-US" sz="2000" dirty="0" smtClean="0">
                <a:latin typeface="Times New Roman" pitchFamily="18" charset="0"/>
                <a:cs typeface="Times New Roman" pitchFamily="18" charset="0"/>
              </a:rPr>
              <a:t>.</a:t>
            </a:r>
          </a:p>
          <a:p>
            <a:pPr algn="just"/>
            <a:endParaRPr lang="en-US" sz="200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Addressing </a:t>
            </a:r>
            <a:r>
              <a:rPr lang="en-US" sz="2000" b="1" dirty="0" smtClean="0">
                <a:latin typeface="Times New Roman" pitchFamily="18" charset="0"/>
                <a:cs typeface="Times New Roman" pitchFamily="18" charset="0"/>
              </a:rPr>
              <a:t>outliers:</a:t>
            </a:r>
          </a:p>
          <a:p>
            <a:pPr algn="just"/>
            <a:r>
              <a:rPr lang="en-US" sz="2000" dirty="0" smtClean="0">
                <a:latin typeface="Times New Roman" pitchFamily="18" charset="0"/>
                <a:cs typeface="Times New Roman" pitchFamily="18" charset="0"/>
              </a:rPr>
              <a:t>Outliers are data points that deviate significantly from others in a data set, caused by errors, rare events or true anomalies</a:t>
            </a:r>
            <a:r>
              <a:rPr lang="en-US" sz="2000" dirty="0" smtClean="0">
                <a:latin typeface="Times New Roman" pitchFamily="18" charset="0"/>
                <a:cs typeface="Times New Roman" pitchFamily="18" charset="0"/>
              </a:rPr>
              <a:t>.</a:t>
            </a:r>
          </a:p>
          <a:p>
            <a:pPr algn="just"/>
            <a:endParaRPr lang="en-US" sz="2000" dirty="0" smtClean="0">
              <a:latin typeface="Times New Roman" pitchFamily="18" charset="0"/>
              <a:cs typeface="Times New Roman" pitchFamily="18" charset="0"/>
            </a:endParaRPr>
          </a:p>
          <a:p>
            <a:pPr algn="just"/>
            <a:r>
              <a:rPr lang="en-US" sz="2000" b="1" dirty="0" err="1" smtClean="0">
                <a:latin typeface="Times New Roman" pitchFamily="18" charset="0"/>
                <a:cs typeface="Times New Roman" pitchFamily="18" charset="0"/>
              </a:rPr>
              <a:t>Deduplication</a:t>
            </a:r>
            <a:r>
              <a:rPr lang="en-US" sz="2000" b="1" dirty="0" smtClean="0">
                <a:latin typeface="Times New Roman" pitchFamily="18" charset="0"/>
                <a:cs typeface="Times New Roman" pitchFamily="18" charset="0"/>
              </a:rPr>
              <a:t> :</a:t>
            </a:r>
          </a:p>
          <a:p>
            <a:pPr algn="just"/>
            <a:r>
              <a:rPr lang="en-US" sz="2000" dirty="0" smtClean="0">
                <a:latin typeface="Times New Roman" pitchFamily="18" charset="0"/>
                <a:cs typeface="Times New Roman" pitchFamily="18" charset="0"/>
              </a:rPr>
              <a:t>is </a:t>
            </a:r>
            <a:r>
              <a:rPr lang="en-US" sz="2000" dirty="0" smtClean="0">
                <a:latin typeface="Times New Roman" pitchFamily="18" charset="0"/>
                <a:cs typeface="Times New Roman" pitchFamily="18" charset="0"/>
              </a:rPr>
              <a:t>a streamlining process in which redundant data is reduced by eliminating extra copies of the same information</a:t>
            </a:r>
            <a:endParaRPr lang="en-US" sz="2000" b="1" dirty="0" smtClean="0">
              <a:latin typeface="Times New Roman" pitchFamily="18" charset="0"/>
              <a:cs typeface="Times New Roman" pitchFamily="18" charset="0"/>
            </a:endParaRPr>
          </a:p>
          <a:p>
            <a:pPr algn="just"/>
            <a:endParaRPr lang="en-US" sz="2000" b="1"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style>
          <a:lnRef idx="2">
            <a:schemeClr val="accent2">
              <a:shade val="50000"/>
            </a:schemeClr>
          </a:lnRef>
          <a:fillRef idx="1">
            <a:schemeClr val="accent2"/>
          </a:fillRef>
          <a:effectRef idx="0">
            <a:schemeClr val="accent2"/>
          </a:effectRef>
          <a:fontRef idx="minor">
            <a:schemeClr val="lt1"/>
          </a:fontRef>
        </p:style>
        <p:txBody>
          <a:bodyPr>
            <a:noAutofit/>
          </a:bodyPr>
          <a:lstStyle/>
          <a:p>
            <a:r>
              <a:rPr lang="en-US" sz="2000" b="1" dirty="0" smtClean="0">
                <a:latin typeface="Times New Roman" pitchFamily="18" charset="0"/>
                <a:cs typeface="Times New Roman" pitchFamily="18" charset="0"/>
              </a:rPr>
              <a:t>Data cleaning techniques </a:t>
            </a:r>
            <a:endParaRPr lang="en-US" sz="20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2985"/>
            <a:ext cx="8229600" cy="4929221"/>
          </a:xfrm>
        </p:spPr>
        <p:txBody>
          <a:bodyPr>
            <a:normAutofit/>
          </a:bodyPr>
          <a:lstStyle/>
          <a:p>
            <a:pPr algn="just"/>
            <a:r>
              <a:rPr lang="en-US" sz="2000" b="1" dirty="0" smtClean="0">
                <a:latin typeface="Times New Roman" pitchFamily="18" charset="0"/>
                <a:cs typeface="Times New Roman" pitchFamily="18" charset="0"/>
              </a:rPr>
              <a:t>Addressing missing </a:t>
            </a:r>
            <a:r>
              <a:rPr lang="en-US" sz="2000" b="1" dirty="0" smtClean="0">
                <a:latin typeface="Times New Roman" pitchFamily="18" charset="0"/>
                <a:cs typeface="Times New Roman" pitchFamily="18" charset="0"/>
              </a:rPr>
              <a:t>values :</a:t>
            </a:r>
          </a:p>
          <a:p>
            <a:pPr algn="just"/>
            <a:r>
              <a:rPr lang="en-US" sz="2000" dirty="0" smtClean="0">
                <a:latin typeface="Times New Roman" pitchFamily="18" charset="0"/>
                <a:cs typeface="Times New Roman" pitchFamily="18" charset="0"/>
              </a:rPr>
              <a:t>Missing values arise when data points are absent due to incomplete data collection, input errors or system failures. </a:t>
            </a:r>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Validation :</a:t>
            </a:r>
            <a:r>
              <a:rPr lang="en-US" sz="2000" dirty="0" smtClean="0">
                <a:latin typeface="Times New Roman" pitchFamily="18" charset="0"/>
                <a:cs typeface="Times New Roman" pitchFamily="18" charset="0"/>
              </a:rPr>
              <a:t>Data validation often involves using manual inspection or automated data cleaning tools to check for any remaining errors, inconsistent data or anomalies.</a:t>
            </a:r>
            <a:endParaRPr lang="en-US" sz="2000" b="1" dirty="0" smtClean="0">
              <a:latin typeface="Times New Roman" pitchFamily="18" charset="0"/>
              <a:cs typeface="Times New Roman" pitchFamily="18" charset="0"/>
            </a:endParaRPr>
          </a:p>
          <a:p>
            <a:pPr algn="just"/>
            <a:endParaRPr lang="en-US" sz="2000" b="1" dirty="0" smtClean="0">
              <a:latin typeface="Times New Roman" pitchFamily="18" charset="0"/>
              <a:cs typeface="Times New Roman" pitchFamily="18" charset="0"/>
            </a:endParaRPr>
          </a:p>
          <a:p>
            <a:pPr algn="just"/>
            <a:endParaRPr lang="en-US" sz="2000" b="1"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style>
          <a:lnRef idx="2">
            <a:schemeClr val="accent2">
              <a:shade val="50000"/>
            </a:schemeClr>
          </a:lnRef>
          <a:fillRef idx="1">
            <a:schemeClr val="accent2"/>
          </a:fillRef>
          <a:effectRef idx="0">
            <a:schemeClr val="accent2"/>
          </a:effectRef>
          <a:fontRef idx="minor">
            <a:schemeClr val="lt1"/>
          </a:fontRef>
        </p:style>
        <p:txBody>
          <a:bodyPr>
            <a:noAutofit/>
          </a:bodyPr>
          <a:lstStyle/>
          <a:p>
            <a:r>
              <a:rPr lang="en-US" sz="2000" b="1" dirty="0" smtClean="0">
                <a:latin typeface="Times New Roman" pitchFamily="18" charset="0"/>
                <a:cs typeface="Times New Roman" pitchFamily="18" charset="0"/>
              </a:rPr>
              <a:t>Characteristics </a:t>
            </a:r>
            <a:r>
              <a:rPr lang="en-US" sz="2000" b="1" dirty="0" smtClean="0">
                <a:latin typeface="Times New Roman" pitchFamily="18" charset="0"/>
                <a:cs typeface="Times New Roman" pitchFamily="18" charset="0"/>
              </a:rPr>
              <a:t>of quality data</a:t>
            </a:r>
            <a:endParaRPr lang="en-US" sz="20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2985"/>
            <a:ext cx="8229600" cy="4929221"/>
          </a:xfrm>
        </p:spPr>
        <p:txBody>
          <a:bodyPr>
            <a:normAutofit/>
          </a:bodyPr>
          <a:lstStyle/>
          <a:p>
            <a:pPr algn="just"/>
            <a:r>
              <a:rPr lang="en-US" sz="2000" b="1" dirty="0" smtClean="0">
                <a:latin typeface="Times New Roman" pitchFamily="18" charset="0"/>
                <a:cs typeface="Times New Roman" pitchFamily="18" charset="0"/>
              </a:rPr>
              <a:t>Validity.</a:t>
            </a:r>
            <a:r>
              <a:rPr lang="en-US" sz="2000" dirty="0" smtClean="0">
                <a:latin typeface="Times New Roman" pitchFamily="18" charset="0"/>
                <a:cs typeface="Times New Roman" pitchFamily="18" charset="0"/>
              </a:rPr>
              <a:t> The degree to which your data conforms to defined business rules or constraints. </a:t>
            </a:r>
            <a:endParaRPr lang="en-US" sz="200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Accuracy</a:t>
            </a:r>
            <a:r>
              <a:rPr lang="en-US" sz="2000" b="1"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Ensure your data is close to the true values</a:t>
            </a:r>
            <a:r>
              <a:rPr lang="en-US" sz="2000" dirty="0" smtClean="0">
                <a:latin typeface="Times New Roman" pitchFamily="18" charset="0"/>
                <a:cs typeface="Times New Roman" pitchFamily="18" charset="0"/>
              </a:rPr>
              <a:t>.</a:t>
            </a:r>
          </a:p>
          <a:p>
            <a:pPr algn="just"/>
            <a:endParaRPr lang="en-US" sz="200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Completeness</a:t>
            </a:r>
            <a:r>
              <a:rPr lang="en-US" sz="2000" b="1"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The degree to which all required data is known</a:t>
            </a:r>
            <a:r>
              <a:rPr lang="en-US" sz="2000" dirty="0" smtClean="0">
                <a:latin typeface="Times New Roman" pitchFamily="18" charset="0"/>
                <a:cs typeface="Times New Roman" pitchFamily="18" charset="0"/>
              </a:rPr>
              <a:t>.</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Consistency.</a:t>
            </a:r>
            <a:r>
              <a:rPr lang="en-US" sz="2000" dirty="0" smtClean="0">
                <a:latin typeface="Times New Roman" pitchFamily="18" charset="0"/>
                <a:cs typeface="Times New Roman" pitchFamily="18" charset="0"/>
              </a:rPr>
              <a:t> Ensure your data is consistent within the same dataset and/or across multiple data sets. </a:t>
            </a:r>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Uniformity</a:t>
            </a:r>
            <a:r>
              <a:rPr lang="en-US" sz="2000" b="1"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The degree to which the data is specified using the same unit of measure.</a:t>
            </a:r>
            <a:endParaRPr lang="en-US" sz="2000" b="1" dirty="0" smtClean="0">
              <a:latin typeface="Times New Roman" pitchFamily="18" charset="0"/>
              <a:cs typeface="Times New Roman" pitchFamily="18" charset="0"/>
            </a:endParaRPr>
          </a:p>
          <a:p>
            <a:pPr algn="just"/>
            <a:endParaRPr lang="en-US" sz="2000" b="1"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style>
          <a:lnRef idx="2">
            <a:schemeClr val="accent2">
              <a:shade val="50000"/>
            </a:schemeClr>
          </a:lnRef>
          <a:fillRef idx="1">
            <a:schemeClr val="accent2"/>
          </a:fillRef>
          <a:effectRef idx="0">
            <a:schemeClr val="accent2"/>
          </a:effectRef>
          <a:fontRef idx="minor">
            <a:schemeClr val="lt1"/>
          </a:fontRef>
        </p:style>
        <p:txBody>
          <a:bodyPr>
            <a:noAutofit/>
          </a:bodyPr>
          <a:lstStyle/>
          <a:p>
            <a:r>
              <a:rPr lang="en-US" sz="2000" b="1" dirty="0" smtClean="0">
                <a:latin typeface="Times New Roman" pitchFamily="18" charset="0"/>
                <a:cs typeface="Times New Roman" pitchFamily="18" charset="0"/>
              </a:rPr>
              <a:t>Characteristics </a:t>
            </a:r>
            <a:r>
              <a:rPr lang="en-US" sz="2000" b="1" dirty="0" smtClean="0">
                <a:latin typeface="Times New Roman" pitchFamily="18" charset="0"/>
                <a:cs typeface="Times New Roman" pitchFamily="18" charset="0"/>
              </a:rPr>
              <a:t>of quality data</a:t>
            </a:r>
            <a:endParaRPr lang="en-US" sz="20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2985"/>
            <a:ext cx="8229600" cy="4929221"/>
          </a:xfrm>
        </p:spPr>
        <p:txBody>
          <a:bodyPr>
            <a:normAutofit/>
          </a:bodyPr>
          <a:lstStyle/>
          <a:p>
            <a:pPr algn="just"/>
            <a:r>
              <a:rPr lang="en-US" sz="2000" b="1" dirty="0" smtClean="0">
                <a:latin typeface="Times New Roman" pitchFamily="18" charset="0"/>
                <a:cs typeface="Times New Roman" pitchFamily="18" charset="0"/>
              </a:rPr>
              <a:t>Validity.</a:t>
            </a:r>
            <a:r>
              <a:rPr lang="en-US" sz="2000" dirty="0" smtClean="0">
                <a:latin typeface="Times New Roman" pitchFamily="18" charset="0"/>
                <a:cs typeface="Times New Roman" pitchFamily="18" charset="0"/>
              </a:rPr>
              <a:t> The degree to which your data conforms to defined business rules or constraints. </a:t>
            </a:r>
            <a:endParaRPr lang="en-US" sz="200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Accuracy</a:t>
            </a:r>
            <a:r>
              <a:rPr lang="en-US" sz="2000" b="1"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Ensure your data is close to the true values</a:t>
            </a:r>
            <a:r>
              <a:rPr lang="en-US" sz="2000" dirty="0" smtClean="0">
                <a:latin typeface="Times New Roman" pitchFamily="18" charset="0"/>
                <a:cs typeface="Times New Roman" pitchFamily="18" charset="0"/>
              </a:rPr>
              <a:t>.</a:t>
            </a:r>
          </a:p>
          <a:p>
            <a:pPr algn="just"/>
            <a:endParaRPr lang="en-US" sz="200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Completeness</a:t>
            </a:r>
            <a:r>
              <a:rPr lang="en-US" sz="2000" b="1"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The degree to which all required data is known</a:t>
            </a:r>
            <a:r>
              <a:rPr lang="en-US" sz="2000" dirty="0" smtClean="0">
                <a:latin typeface="Times New Roman" pitchFamily="18" charset="0"/>
                <a:cs typeface="Times New Roman" pitchFamily="18" charset="0"/>
              </a:rPr>
              <a:t>.</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Consistency.</a:t>
            </a:r>
            <a:r>
              <a:rPr lang="en-US" sz="2000" dirty="0" smtClean="0">
                <a:latin typeface="Times New Roman" pitchFamily="18" charset="0"/>
                <a:cs typeface="Times New Roman" pitchFamily="18" charset="0"/>
              </a:rPr>
              <a:t> Ensure your data is consistent within the same dataset and/or across multiple data sets. </a:t>
            </a:r>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Uniformity</a:t>
            </a:r>
            <a:r>
              <a:rPr lang="en-US" sz="2000" b="1"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The degree to which the data is specified using the same unit of measure.</a:t>
            </a:r>
            <a:endParaRPr lang="en-US" sz="2000" b="1" dirty="0" smtClean="0">
              <a:latin typeface="Times New Roman" pitchFamily="18" charset="0"/>
              <a:cs typeface="Times New Roman" pitchFamily="18" charset="0"/>
            </a:endParaRPr>
          </a:p>
          <a:p>
            <a:pPr algn="just"/>
            <a:endParaRPr lang="en-US" sz="2000" b="1"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400" dirty="0" smtClean="0">
                <a:latin typeface="Times New Roman" pitchFamily="18" charset="0"/>
                <a:cs typeface="Times New Roman" pitchFamily="18" charset="0"/>
              </a:rPr>
              <a:t>Reference’s</a:t>
            </a:r>
            <a:endParaRPr lang="en-US" sz="24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buFont typeface="+mj-lt"/>
              <a:buAutoNum type="arabicPeriod"/>
            </a:pPr>
            <a:r>
              <a:rPr lang="en-US" sz="1200" dirty="0" smtClean="0">
                <a:latin typeface="Times New Roman" pitchFamily="18" charset="0"/>
                <a:cs typeface="Times New Roman" pitchFamily="18" charset="0"/>
                <a:hlinkClick r:id="rId2"/>
              </a:rPr>
              <a:t>https://</a:t>
            </a:r>
            <a:r>
              <a:rPr lang="en-US" sz="1200" dirty="0" smtClean="0">
                <a:latin typeface="Times New Roman" pitchFamily="18" charset="0"/>
                <a:cs typeface="Times New Roman" pitchFamily="18" charset="0"/>
                <a:hlinkClick r:id="rId2"/>
              </a:rPr>
              <a:t>builtin.com/data-science/types-of-data-analysis</a:t>
            </a:r>
            <a:endParaRPr lang="en-US" sz="1200" dirty="0" smtClean="0">
              <a:latin typeface="Times New Roman" pitchFamily="18" charset="0"/>
              <a:cs typeface="Times New Roman" pitchFamily="18" charset="0"/>
            </a:endParaRPr>
          </a:p>
          <a:p>
            <a:pPr>
              <a:buFont typeface="+mj-lt"/>
              <a:buAutoNum type="arabicPeriod"/>
            </a:pPr>
            <a:r>
              <a:rPr lang="en-US" sz="1200" smtClean="0">
                <a:latin typeface="Times New Roman" pitchFamily="18" charset="0"/>
                <a:cs typeface="Times New Roman" pitchFamily="18" charset="0"/>
                <a:hlinkClick r:id="rId3"/>
              </a:rPr>
              <a:t>https</a:t>
            </a:r>
            <a:r>
              <a:rPr lang="en-US" sz="1200" smtClean="0">
                <a:latin typeface="Times New Roman" pitchFamily="18" charset="0"/>
                <a:cs typeface="Times New Roman" pitchFamily="18" charset="0"/>
                <a:hlinkClick r:id="rId3"/>
              </a:rPr>
              <a:t>://</a:t>
            </a:r>
            <a:r>
              <a:rPr lang="en-US" sz="1200" smtClean="0">
                <a:latin typeface="Times New Roman" pitchFamily="18" charset="0"/>
                <a:cs typeface="Times New Roman" pitchFamily="18" charset="0"/>
                <a:hlinkClick r:id="rId3"/>
              </a:rPr>
              <a:t>www.ibm.com/products/watsonx-data</a:t>
            </a:r>
            <a:endParaRPr lang="en-US" sz="1200" smtClean="0">
              <a:latin typeface="Times New Roman" pitchFamily="18" charset="0"/>
              <a:cs typeface="Times New Roman" pitchFamily="18" charset="0"/>
            </a:endParaRPr>
          </a:p>
          <a:p>
            <a:pPr>
              <a:buFont typeface="+mj-lt"/>
              <a:buAutoNum type="arabicPeriod"/>
            </a:pPr>
            <a:endParaRPr lang="en-US" sz="1200" dirty="0" smtClean="0">
              <a:latin typeface="Times New Roman" pitchFamily="18" charset="0"/>
              <a:cs typeface="Times New Roman" pitchFamily="18" charset="0"/>
            </a:endParaRPr>
          </a:p>
          <a:p>
            <a:pPr>
              <a:buFont typeface="+mj-lt"/>
              <a:buAutoNum type="arabicPeriod"/>
            </a:pPr>
            <a:endParaRPr lang="en-US" sz="1200" dirty="0" smtClean="0">
              <a:latin typeface="Times New Roman" pitchFamily="18" charset="0"/>
              <a:cs typeface="Times New Roman" pitchFamily="18" charset="0"/>
            </a:endParaRPr>
          </a:p>
          <a:p>
            <a:pPr>
              <a:buFont typeface="+mj-lt"/>
              <a:buAutoNum type="arabicPeriod"/>
            </a:pPr>
            <a:endParaRPr lang="en-IN" sz="1200" dirty="0" smtClean="0">
              <a:latin typeface="Times New Roman" pitchFamily="18" charset="0"/>
              <a:cs typeface="Times New Roman" pitchFamily="18" charset="0"/>
            </a:endParaRPr>
          </a:p>
          <a:p>
            <a:pPr>
              <a:buFont typeface="+mj-lt"/>
              <a:buAutoNum type="arabicPeriod"/>
            </a:pPr>
            <a:endParaRPr lang="en-US" sz="1200" dirty="0" smtClean="0">
              <a:latin typeface="Times New Roman" pitchFamily="18" charset="0"/>
              <a:cs typeface="Times New Roman" pitchFamily="18" charset="0"/>
            </a:endParaRPr>
          </a:p>
          <a:p>
            <a:endParaRPr lang="en-IN" sz="1200" dirty="0" smtClean="0">
              <a:latin typeface="Times New Roman" pitchFamily="18" charset="0"/>
              <a:cs typeface="Times New Roman" pitchFamily="18" charset="0"/>
            </a:endParaRPr>
          </a:p>
          <a:p>
            <a:endParaRPr lang="en-IN" sz="1200" dirty="0" smtClean="0">
              <a:latin typeface="Times New Roman" pitchFamily="18" charset="0"/>
              <a:cs typeface="Times New Roman" pitchFamily="18" charset="0"/>
            </a:endParaRPr>
          </a:p>
          <a:p>
            <a:endParaRPr lang="en-US" sz="1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611</TotalTime>
  <Words>1282</Words>
  <Application>Microsoft Office PowerPoint</Application>
  <PresentationFormat>On-screen Show (4:3)</PresentationFormat>
  <Paragraphs>140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UNIT- III Data Cleaning and Preparation</vt:lpstr>
      <vt:lpstr>Data </vt:lpstr>
      <vt:lpstr>1. Descriptive Analysis</vt:lpstr>
      <vt:lpstr>2. Diagnostic Analysis </vt:lpstr>
      <vt:lpstr>3. Exploratory Analysis (EDA)</vt:lpstr>
      <vt:lpstr>3. Exploratory Analysis (EDA)</vt:lpstr>
      <vt:lpstr>4. Inferential Analysis</vt:lpstr>
      <vt:lpstr>4. Inferential Analysis</vt:lpstr>
      <vt:lpstr>5. Predictive Analysis</vt:lpstr>
      <vt:lpstr>5. Predictive Analysis</vt:lpstr>
      <vt:lpstr>6. Causal Analysis</vt:lpstr>
      <vt:lpstr>7. Mechanistic Analysis</vt:lpstr>
      <vt:lpstr>8. Prescriptive Analysis </vt:lpstr>
      <vt:lpstr>What is data cleaning? </vt:lpstr>
      <vt:lpstr>Data cleaning techniques </vt:lpstr>
      <vt:lpstr>Data cleaning techniques </vt:lpstr>
      <vt:lpstr>Data cleaning techniques </vt:lpstr>
      <vt:lpstr>Characteristics of quality data</vt:lpstr>
      <vt:lpstr>Characteristics of quality data</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dc:title>
  <dc:creator>admin</dc:creator>
  <cp:lastModifiedBy>admin</cp:lastModifiedBy>
  <cp:revision>105</cp:revision>
  <dcterms:created xsi:type="dcterms:W3CDTF">2026-07-08T02:32:55Z</dcterms:created>
  <dcterms:modified xsi:type="dcterms:W3CDTF">2026-08-21T01:01:39Z</dcterms:modified>
</cp:coreProperties>
</file>